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4ECD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4ECDD"/>
                </a:solidFill>
                <a:latin typeface="Arial"/>
              </a:rPr>
              <a:t>断句正确率提升曲线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断句正确率</c:v>
                </c:pt>
              </c:strCache>
            </c:strRef>
          </c:tx>
          <c:spPr>
            <a:solidFill>
              <a:srgbClr val="B68A47"/>
            </a:solidFill>
            <a:ln w="38100" cap="flat">
              <a:solidFill>
                <a:srgbClr val="B68A4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B68A4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68A47"/>
              </a:solidFill>
              <a:ln w="9525" cap="flat">
                <a:solidFill>
                  <a:srgbClr val="B68A4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第1周</c:v>
                  </c:pt>
                  <c:pt idx="1">
                    <c:v>第2周</c:v>
                  </c:pt>
                  <c:pt idx="2">
                    <c:v>第3周</c:v>
                  </c:pt>
                  <c:pt idx="3">
                    <c:v>第4周</c:v>
                  </c:pt>
                  <c:pt idx="4">
                    <c:v>第5周</c:v>
                  </c:pt>
                  <c:pt idx="5">
                    <c:v>第6周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51.3</c:v>
                </c:pt>
                <c:pt idx="1">
                  <c:v>58.7</c:v>
                </c:pt>
                <c:pt idx="2">
                  <c:v>65.4</c:v>
                </c:pt>
                <c:pt idx="3">
                  <c:v>72.1</c:v>
                </c:pt>
                <c:pt idx="4">
                  <c:v>78.5</c:v>
                </c:pt>
                <c:pt idx="5">
                  <c:v>82.6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B68A4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CE2D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5555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CE2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B2B2B"/>
        </a:solidFill>
        <a:ln>
          <a:noFill/>
        </a:ln>
        <a:effectLst/>
      </c:spPr>
    </c:plotArea>
    <c:plotVisOnly val="1"/>
    <c:dispBlanksAs val="span"/>
  </c:chart>
  <c:spPr>
    <a:solidFill>
      <a:srgbClr val="2B2B2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4ECD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4ECDD"/>
                </a:solidFill>
                <a:latin typeface="Arial"/>
              </a:rPr>
              <a:t>错误证型分布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错误归因分布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68A47"/>
              </a:solidFill>
              <a:effectLst/>
            </c:spPr>
          </c:dPt>
          <c:dPt>
            <c:idx val="1"/>
            <c:bubble3D val="0"/>
            <c:spPr>
              <a:solidFill>
                <a:srgbClr val="8B3A52"/>
              </a:solidFill>
              <a:effectLst/>
            </c:spPr>
          </c:dPt>
          <c:dPt>
            <c:idx val="2"/>
            <c:bubble3D val="0"/>
            <c:spPr>
              <a:solidFill>
                <a:srgbClr val="5C7E5A"/>
              </a:solidFill>
              <a:effectLst/>
            </c:spPr>
          </c:dPt>
          <c:dPt>
            <c:idx val="3"/>
            <c:bubble3D val="0"/>
            <c:spPr>
              <a:solidFill>
                <a:srgbClr val="ECE2D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4ECDD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4ECDD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4ECDD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4ECDD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A.字词不识</c:v>
                </c:pt>
                <c:pt idx="1">
                  <c:v>B.典故/人名</c:v>
                </c:pt>
                <c:pt idx="2">
                  <c:v>C.语法虚词</c:v>
                </c:pt>
                <c:pt idx="3">
                  <c:v>D.语感不足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42</c:v>
                </c:pt>
                <c:pt idx="1">
                  <c:v>28</c:v>
                </c:pt>
                <c:pt idx="2">
                  <c:v>18</c:v>
                </c:pt>
                <c:pt idx="3">
                  <c:v>12</c:v>
                </c:pt>
              </c:numCache>
            </c:numRef>
          </c:val>
        </c:ser>
        <c:firstSliceAng val="0"/>
        <c:holeSize val="50"/>
      </c:doughnutChart>
      <c:spPr>
        <a:solidFill>
          <a:srgbClr val="2B2B2B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ECE2D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2B2B2B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4ECD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4ECDD"/>
                </a:solidFill>
                <a:latin typeface="Arial"/>
              </a:rPr>
              <a:t>错误归因人数分布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人数</c:v>
                </c:pt>
              </c:strCache>
            </c:strRef>
          </c:tx>
          <c:spPr>
            <a:solidFill>
              <a:srgbClr val="B68A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B68A4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A.字词</c:v>
                  </c:pt>
                  <c:pt idx="1">
                    <c:v>B.典故</c:v>
                  </c:pt>
                  <c:pt idx="2">
                    <c:v>C.语法</c:v>
                  </c:pt>
                  <c:pt idx="3">
                    <c:v>D.语感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</c:v>
                </c:pt>
                <c:pt idx="1">
                  <c:v>39</c:v>
                </c:pt>
                <c:pt idx="2">
                  <c:v>25</c:v>
                </c:pt>
                <c:pt idx="3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B68A4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CE2D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5555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CE2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B2B2B"/>
        </a:solidFill>
        <a:ln>
          <a:noFill/>
        </a:ln>
        <a:effectLst/>
      </c:spPr>
    </c:plotArea>
    <c:plotVisOnly val="1"/>
    <c:dispBlanksAs val="span"/>
  </c:chart>
  <c:spPr>
    <a:solidFill>
      <a:srgbClr val="2B2B2B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前测</c:v>
                </c:pt>
              </c:strCache>
            </c:strRef>
          </c:tx>
          <c:spPr>
            <a:solidFill>
              <a:srgbClr val="ECE2D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断句正确率</c:v>
                  </c:pt>
                  <c:pt idx="1">
                    <c:v>生僻字识别率</c:v>
                  </c:pt>
                  <c:pt idx="2">
                    <c:v>典故掌握度</c:v>
                  </c:pt>
                  <c:pt idx="3">
                    <c:v>学生满意度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51.3</c:v>
                </c:pt>
                <c:pt idx="1">
                  <c:v>38.7</c:v>
                </c:pt>
                <c:pt idx="2">
                  <c:v>32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终测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断句正确率</c:v>
                  </c:pt>
                  <c:pt idx="1">
                    <c:v>生僻字识别率</c:v>
                  </c:pt>
                  <c:pt idx="2">
                    <c:v>典故掌握度</c:v>
                  </c:pt>
                  <c:pt idx="3">
                    <c:v>学生满意度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82.6</c:v>
                </c:pt>
                <c:pt idx="1">
                  <c:v>79.4</c:v>
                </c:pt>
                <c:pt idx="2">
                  <c:v>78</c:v>
                </c:pt>
                <c:pt idx="3">
                  <c:v>94.2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B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5C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ECDD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2B2B2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4ECD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0"/>
            <a:ext cx="3840480" cy="6858000"/>
          </a:xfrm>
          <a:prstGeom prst="rect">
            <a:avLst/>
          </a:prstGeom>
          <a:solidFill>
            <a:srgbClr val="8B3A52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943600"/>
            <a:ext cx="1371600" cy="36576"/>
          </a:xfrm>
          <a:prstGeom prst="rect">
            <a:avLst/>
          </a:prstGeom>
          <a:solidFill>
            <a:srgbClr val="B68A4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B68A47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创AI案例 · 医文交融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4ECDD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医古文智慧精读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ECDD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全流程可视化系统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CE2D0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——以《本草纲目序》师生共创为例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4572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68A47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「藏之深山石室無當,盍鍥之以共天下後世」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5029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68A47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——王世贞《本草纲目序》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CDD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孙婉  龚方琴  莫亮波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湖北中医药大学  ·  2026 创AI案例征集</a:t>
            </a:r>
            <a:endParaRPr lang="en-US" sz="11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495" y="2286000"/>
            <a:ext cx="1645920" cy="16459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991295" y="4114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4ECDD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一序·一典·一课堂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一、痛点缘起:医古文为何要"智慧"读?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68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in Traditional Medical-Classical Chinese Teaching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以《本草纲目序》为例:全文 612 字,典故 11 处,生僻字词 87 个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8008" y="2103120"/>
            <a:ext cx="356616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2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18008" y="2103120"/>
            <a:ext cx="3566160" cy="73152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7" name="Text 5"/>
          <p:cNvSpPr/>
          <p:nvPr/>
        </p:nvSpPr>
        <p:spPr>
          <a:xfrm>
            <a:off x="792328" y="2377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i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92328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字词认知断层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92328" y="3794760"/>
            <a:ext cx="548640" cy="0"/>
          </a:xfrm>
          <a:prstGeom prst="line">
            <a:avLst/>
          </a:prstGeom>
          <a:noFill/>
          <a:ln w="19050">
            <a:solidFill>
              <a:srgbClr val="B68A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2328" y="397764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「睟然」「癯然」「碔玉」「博支機之石」——平均每段不识字 9.4 个,教师无法逐一定位每个学生的盲点。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12768" y="2103120"/>
            <a:ext cx="356616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2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12768" y="2103120"/>
            <a:ext cx="3566160" cy="73152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3" name="Text 11"/>
          <p:cNvSpPr/>
          <p:nvPr/>
        </p:nvSpPr>
        <p:spPr>
          <a:xfrm>
            <a:off x="4587088" y="2377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i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587088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断句缺乏数据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87088" y="3794760"/>
            <a:ext cx="548640" cy="0"/>
          </a:xfrm>
          <a:prstGeom prst="line">
            <a:avLst/>
          </a:prstGeom>
          <a:noFill/>
          <a:ln w="19050">
            <a:solidFill>
              <a:srgbClr val="B68A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87088" y="397764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60 份断句作业批改 4.5 小时,无法量化"哪一句最易错""错误集中在哪类成因"。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07528" y="2103120"/>
            <a:ext cx="356616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2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07528" y="2103120"/>
            <a:ext cx="3566160" cy="73152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9" name="Text 17"/>
          <p:cNvSpPr/>
          <p:nvPr/>
        </p:nvSpPr>
        <p:spPr>
          <a:xfrm>
            <a:off x="8381848" y="2377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i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8381848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学情难以沉淀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381848" y="3794760"/>
            <a:ext cx="548640" cy="0"/>
          </a:xfrm>
          <a:prstGeom prst="line">
            <a:avLst/>
          </a:prstGeom>
          <a:noFill/>
          <a:ln w="19050">
            <a:solidFill>
              <a:srgbClr val="B68A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81848" y="397764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学生举手提问、随手批注下课即散失,无法形成可追溯的个体学习画像。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263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D2E46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教学之痛,在「看不见」——看不见学生哪里卡住,看不见全班哪里普遍困惑。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二、破局思路:让学习行为「可见、可诊、可共创」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68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Black-Box Reading to Data-Driven Co-Creation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66648" y="1737360"/>
            <a:ext cx="310896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6648" y="2011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诊断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66648" y="2697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68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46808" y="3063240"/>
            <a:ext cx="548640" cy="0"/>
          </a:xfrm>
          <a:prstGeom prst="line">
            <a:avLst/>
          </a:prstGeom>
          <a:noFill/>
          <a:ln w="19050">
            <a:solidFill>
              <a:srgbClr val="ECE2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49528" y="3200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字词标注·语义聚类·助记卡片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41368" y="1737360"/>
            <a:ext cx="310896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1368" y="2011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练习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41368" y="2697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68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21528" y="3063240"/>
            <a:ext cx="548640" cy="0"/>
          </a:xfrm>
          <a:prstGeom prst="line">
            <a:avLst/>
          </a:prstGeom>
          <a:noFill/>
          <a:ln w="19050">
            <a:solidFill>
              <a:srgbClr val="ECE2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4248" y="3200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无标点断句·即时评分·辨证诊断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16088" y="1737360"/>
            <a:ext cx="310896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16088" y="2011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评价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016088" y="2697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68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296248" y="3063240"/>
            <a:ext cx="548640" cy="0"/>
          </a:xfrm>
          <a:prstGeom prst="line">
            <a:avLst/>
          </a:prstGeom>
          <a:noFill/>
          <a:ln w="19050">
            <a:solidFill>
              <a:srgbClr val="ECE2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98968" y="3200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知识图谱·学情热力图·班级报告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21328" y="2834640"/>
            <a:ext cx="274320" cy="0"/>
          </a:xfrm>
          <a:prstGeom prst="line">
            <a:avLst/>
          </a:prstGeom>
          <a:noFill/>
          <a:ln w="25400">
            <a:solidFill>
              <a:srgbClr val="B68A47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696048" y="2834640"/>
            <a:ext cx="274320" cy="0"/>
          </a:xfrm>
          <a:prstGeom prst="line">
            <a:avLst/>
          </a:prstGeom>
          <a:noFill/>
          <a:ln w="25400">
            <a:solidFill>
              <a:srgbClr val="B68A4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371600" y="4297680"/>
            <a:ext cx="9448495" cy="14630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1371600" y="4434840"/>
            <a:ext cx="9448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ECDD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全景数据大屏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371600" y="502920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CE2D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正确率曲线 · 错误证型饼图 · 高频生词云 · 典故掌握热力图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5440680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68A47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课堂现场决策讲评重点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600" kern="0" dirty="0">
                <a:solidFill>
                  <a:srgbClr val="B68A47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三模块 + 一大屏  ·  数据闭环  ·  师生共创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三、技术选型:全栈国产化 · 低成本 · 可复现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68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— Domestic LLMs + Low-Code Agents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6692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37360"/>
            <a:ext cx="54864" cy="5029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前端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03120" y="1737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HTML5 / CSS3 / JS · ECharts 5.x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5669280" cy="502920"/>
          </a:xfrm>
          <a:prstGeom prst="rect">
            <a:avLst/>
          </a:prstGeom>
          <a:solidFill>
            <a:srgbClr val="ECE2D0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240280"/>
            <a:ext cx="54864" cy="5029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2402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后端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03120" y="22402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Python 3.10 · Flask 2.3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743200"/>
            <a:ext cx="56692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2743200"/>
            <a:ext cx="54864" cy="5029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7432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大模型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03120" y="27432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DeepSeek-V3 + 智谱清言 GLM-4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246120"/>
            <a:ext cx="5669280" cy="502920"/>
          </a:xfrm>
          <a:prstGeom prst="rect">
            <a:avLst/>
          </a:prstGeom>
          <a:solidFill>
            <a:srgbClr val="ECE2D0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3246120"/>
            <a:ext cx="54864" cy="5029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2461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智能体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103120" y="32461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Coze · Dify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3749040"/>
            <a:ext cx="56692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3749040"/>
            <a:ext cx="54864" cy="5029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7490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数据库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103120" y="37490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SQLite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251960"/>
            <a:ext cx="5669280" cy="502920"/>
          </a:xfrm>
          <a:prstGeom prst="rect">
            <a:avLst/>
          </a:prstGeom>
          <a:solidFill>
            <a:srgbClr val="ECE2D0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4251960"/>
            <a:ext cx="54864" cy="5029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2519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AI 编程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103120" y="42519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Cursor + 通义灵码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58000" y="1737360"/>
            <a:ext cx="4785055" cy="155448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1828800"/>
            <a:ext cx="47850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¥47.6</a:t>
            </a:r>
            <a:endParaRPr lang="en-US" sz="6000" dirty="0"/>
          </a:p>
        </p:txBody>
      </p:sp>
      <p:sp>
        <p:nvSpPr>
          <p:cNvPr id="30" name="Text 28"/>
          <p:cNvSpPr/>
          <p:nvPr/>
        </p:nvSpPr>
        <p:spPr>
          <a:xfrm>
            <a:off x="6858000" y="2697480"/>
            <a:ext cx="4785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CE2D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一学期 API 总开销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58000" y="3017520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68A47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(138 名学生 · 4 学时 · 双模型协同)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58000" y="3520440"/>
            <a:ext cx="4785055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0" y="3611880"/>
            <a:ext cx="47850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6000" dirty="0"/>
          </a:p>
        </p:txBody>
      </p:sp>
      <p:sp>
        <p:nvSpPr>
          <p:cNvPr id="34" name="Text 32"/>
          <p:cNvSpPr/>
          <p:nvPr/>
        </p:nvSpPr>
        <p:spPr>
          <a:xfrm>
            <a:off x="6858000" y="4480560"/>
            <a:ext cx="4785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代码由 AI 结对编程协同生成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58000" y="4800600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68A47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(医古文教师亦能独立维护)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62179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rgbClr val="B68A47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一台普通校园服务器  ·  Docker 一键部署  ·  内网安全可控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四 · 1  诊断模块:让"不识"被精准看见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68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Diagnose: Vocabulary Annotation &amp; Clustering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CE2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学生端 · 原文标注界面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5303520" cy="0"/>
          </a:xfrm>
          <a:prstGeom prst="line">
            <a:avLst/>
          </a:prstGeom>
          <a:noFill/>
          <a:ln w="6350">
            <a:solidFill>
              <a:srgbClr val="ECE2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4028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楚蘄陽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85042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李君東璧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,一日過予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85042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弇山園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謁予,留飲數日。予窥其人,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85042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睟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然貌也,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85042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癯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然身也,津津然譚議也,真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85042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北斗以南一人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840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C5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点击任意词→提交标注  ·  系统自动聚类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4251960"/>
            <a:ext cx="5029200" cy="1920240"/>
          </a:xfrm>
          <a:prstGeom prst="rect">
            <a:avLst/>
          </a:prstGeom>
          <a:solidFill>
            <a:srgbClr val="ECE2D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343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「睟」字助记卡片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6634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读音:</a:t>
            </a:r>
            <a:pPr indent="0" marL="0">
              <a:buNone/>
            </a:pPr>
            <a:r>
              <a:rPr lang="en-US" sz="1200" i="1" dirty="0">
                <a:solidFill>
                  <a:srgbClr val="B8504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suì</a:t>
            </a:r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   类别:</a:t>
            </a:r>
            <a:pPr indent="0" marL="0">
              <a:buNone/>
            </a:pPr>
            <a:r>
              <a:rPr lang="en-US" sz="1200" dirty="0">
                <a:solidFill>
                  <a:srgbClr val="5C7E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生僻字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9377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义项:润泽光彩貌  ·  本序中形容李时珍气色温润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52578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D2E46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口诀:目有"卒"光,润泽中藏——见睟字,识温润。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5852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68A47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由 DeepSeek-V3 生成 · AI生成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309360" y="1554480"/>
            <a:ext cx="548640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CE2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教师端 · 班级标注聚类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0" y="2057400"/>
            <a:ext cx="5303520" cy="0"/>
          </a:xfrm>
          <a:prstGeom prst="line">
            <a:avLst/>
          </a:prstGeom>
          <a:noFill/>
          <a:ln w="6350">
            <a:solidFill>
              <a:srgbClr val="ECE2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2860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睟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06640" y="2331720"/>
            <a:ext cx="3488788" cy="3200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0" name="Text 18"/>
          <p:cNvSpPr/>
          <p:nvPr/>
        </p:nvSpPr>
        <p:spPr>
          <a:xfrm>
            <a:off x="10941148" y="22860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124 人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280720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癯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406640" y="2852928"/>
            <a:ext cx="3319975" cy="3200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3" name="Text 21"/>
          <p:cNvSpPr/>
          <p:nvPr/>
        </p:nvSpPr>
        <p:spPr>
          <a:xfrm>
            <a:off x="10772335" y="280720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118 人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332841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鄙人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406640" y="3374136"/>
            <a:ext cx="2700997" cy="3200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6" name="Text 24"/>
          <p:cNvSpPr/>
          <p:nvPr/>
        </p:nvSpPr>
        <p:spPr>
          <a:xfrm>
            <a:off x="10153357" y="332841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96 人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0" y="384962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羸疾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406640" y="3895344"/>
            <a:ext cx="2475914" cy="3200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9" name="Text 27"/>
          <p:cNvSpPr/>
          <p:nvPr/>
        </p:nvSpPr>
        <p:spPr>
          <a:xfrm>
            <a:off x="9928274" y="384962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88 人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0" y="437083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啖蔗飴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406640" y="4416552"/>
            <a:ext cx="2278966" cy="3200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2" name="Text 30"/>
          <p:cNvSpPr/>
          <p:nvPr/>
        </p:nvSpPr>
        <p:spPr>
          <a:xfrm>
            <a:off x="9731326" y="437083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81 人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48920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稔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406640" y="4937760"/>
            <a:ext cx="2053883" cy="3200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5" name="Text 33"/>
          <p:cNvSpPr/>
          <p:nvPr/>
        </p:nvSpPr>
        <p:spPr>
          <a:xfrm>
            <a:off x="9506243" y="48920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73 人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0" y="54864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D2E46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→ 教师据此重构课堂讲评顺序:高频生词集中突破。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00800" y="59436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一学期累计采集标注 4,217 条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四 · 2  练习模块:断句训练 + AI"辨证"诊断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68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Practice: TCM-Style Diagnostic Reasoning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35128" y="1645920"/>
            <a:ext cx="3657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2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5128" y="1645920"/>
            <a:ext cx="640080" cy="1371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335128" y="1645920"/>
            <a:ext cx="640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12368" y="17373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无标点呈现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2368" y="219456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「楚蘄陽李君東璧一日過予弇山園謁予留飲數日」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67048" y="1645920"/>
            <a:ext cx="3657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2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67048" y="1645920"/>
            <a:ext cx="640080" cy="1371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1" name="Text 9"/>
          <p:cNvSpPr/>
          <p:nvPr/>
        </p:nvSpPr>
        <p:spPr>
          <a:xfrm>
            <a:off x="4267048" y="1645920"/>
            <a:ext cx="640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044288" y="17373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学生点击插入"／"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44288" y="219456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鼠标点击字符间隙→插入断句符→提交评分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98968" y="1645920"/>
            <a:ext cx="3657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2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98968" y="1645920"/>
            <a:ext cx="640080" cy="1371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8198968" y="1645920"/>
            <a:ext cx="640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976208" y="17373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AI 辨证生成诊断书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76208" y="219456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对照正确版本 + 错误归因 + 个性化处方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011016" y="2331720"/>
            <a:ext cx="237744" cy="0"/>
          </a:xfrm>
          <a:prstGeom prst="line">
            <a:avLst/>
          </a:prstGeom>
          <a:noFill/>
          <a:ln w="31750">
            <a:solidFill>
              <a:srgbClr val="B68A47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942936" y="2331720"/>
            <a:ext cx="237744" cy="0"/>
          </a:xfrm>
          <a:prstGeom prst="line">
            <a:avLst/>
          </a:prstGeom>
          <a:noFill/>
          <a:ln w="31750">
            <a:solidFill>
              <a:srgbClr val="B68A4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14400" y="3383280"/>
            <a:ext cx="10362895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3383280"/>
            <a:ext cx="10362895" cy="4572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3456432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CDD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AI 辨证诊断书 · Sample Output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397764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学号: 2024010312    断句正确率: 47.6%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88720" y="4297680"/>
            <a:ext cx="9814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5042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✗ 误断:「楚蘄陽李君／東璧一日過予／弇山園謁予」  →  应在「李君東璧」「一日過予弇山園」处合断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88720" y="4846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辨证: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286000" y="4846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B2B2B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证属字词匮乏兼典故失察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88720" y="5257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处方: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286000" y="5257800"/>
            <a:ext cx="8534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①补「東璧」「弇山園」二项人名 / 园林知识  ②研习「味《太玄》如子雲」典故  ③重读第二段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88720" y="585216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68A47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AI 归因仅限四类:[A 字词不识] [B 典故/人名书名不解] [C 语法虚词不熟] [D 语感不足]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88720" y="6172200"/>
            <a:ext cx="9814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5C5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AI生成 · DeepSeek-V3 + GLM-4 双模型校验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四 · 3  评价模块:全景数据大屏 · 师生共创闭环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68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Evaluate: Real-time Classroom Data Dashboard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4206240"/>
          </a:xfrm>
          <a:prstGeom prst="rect">
            <a:avLst/>
          </a:prstGeom>
          <a:solidFill>
            <a:srgbClr val="2B2B2B"/>
          </a:solidFill>
          <a:ln w="19050">
            <a:solidFill>
              <a:srgbClr val="B68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27632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68A47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湖北中医药大学 · 医古文智慧课堂大屏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77240" y="2011680"/>
          <a:ext cx="52120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6263640" y="2011680"/>
          <a:ext cx="534924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777240" y="3886200"/>
            <a:ext cx="5212080" cy="1783080"/>
          </a:xfrm>
          <a:prstGeom prst="rect">
            <a:avLst/>
          </a:prstGeom>
          <a:solidFill>
            <a:srgbClr val="2B2B2B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68680" y="3931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CDD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高频生词云 Top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097280" y="42519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68A47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睟</a:t>
            </a:r>
            <a:endParaRPr lang="en-US" sz="3600" dirty="0"/>
          </a:p>
        </p:txBody>
      </p:sp>
      <p:sp>
        <p:nvSpPr>
          <p:cNvPr id="11" name="Text 7"/>
          <p:cNvSpPr/>
          <p:nvPr/>
        </p:nvSpPr>
        <p:spPr>
          <a:xfrm>
            <a:off x="1920240" y="4297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ECDD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癯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2743200" y="43434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3A52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弇山園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114800" y="4389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C7E5A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啖蔗飴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188720" y="5029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2D0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鄙人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286000" y="5029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68A47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羸疾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657600" y="4937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ECDD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稔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4572000" y="5029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3A52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墳典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645920" y="5349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C7E5A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碔玉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3200400" y="5440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支機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114800" y="53949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68A47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傳奇</a:t>
            </a:r>
            <a:endParaRPr lang="en-US" sz="1100" dirty="0"/>
          </a:p>
        </p:txBody>
      </p:sp>
      <p:graphicFrame>
        <p:nvGraphicFramePr>
          <p:cNvPr id="21" name="Chart 2" descr=""/>
          <p:cNvGraphicFramePr/>
          <p:nvPr/>
        </p:nvGraphicFramePr>
        <p:xfrm>
          <a:off x="6263640" y="3886200"/>
          <a:ext cx="534924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2" name="Text 17"/>
          <p:cNvSpPr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D2E46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课堂现场,教师据大屏即时决策——错断集中处即讲评重点。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五、AI开发证据:提示词工程 · 5 次迭代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68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Engineering: 5 Iterations to TCM-Style Diagnosis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858000" cy="4754880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916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68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断句教练 · System Prompt v5.0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6492240" cy="0"/>
          </a:xfrm>
          <a:prstGeom prst="line">
            <a:avLst/>
          </a:prstGeom>
          <a:noFill/>
          <a:ln w="6350">
            <a:solidFill>
              <a:srgbClr val="B68A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945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4ECD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你是一位精通医古文的断句教练。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4ECD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当学生提交断句结果,你需: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B68A47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①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4ECD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对照《本草纲目序》(王世贞撰)正确版本逐句比对;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B68A47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②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4ECD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对每处错断进行错误归因,归因仅限四类——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C7E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  【A.字词不识】【B.典故/人名书名不解】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C7E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  【C.语法/虚词不熟】【D.语感不足】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B68A47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③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4ECD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以中医「辨证」口吻输出诊断书,例: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ECE2D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  '此处错断,证属字词匮乏兼典故失察,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ECE2D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   宜先补「碔玉」「朱紫」二词……'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B8504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禁止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4ECD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杜撰原文,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B8504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禁止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4ECD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超出四类归因。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80960" y="1691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提示词五版演化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80960" y="2377440"/>
            <a:ext cx="228600" cy="228600"/>
          </a:xfrm>
          <a:prstGeom prst="ellipse">
            <a:avLst/>
          </a:prstGeom>
          <a:solidFill>
            <a:srgbClr val="5C5C5C"/>
          </a:solidFill>
          <a:ln/>
        </p:spPr>
      </p:sp>
      <p:sp>
        <p:nvSpPr>
          <p:cNvPr id="10" name="Shape 8"/>
          <p:cNvSpPr/>
          <p:nvPr/>
        </p:nvSpPr>
        <p:spPr>
          <a:xfrm>
            <a:off x="7790688" y="2606040"/>
            <a:ext cx="0" cy="365760"/>
          </a:xfrm>
          <a:prstGeom prst="line">
            <a:avLst/>
          </a:prstGeom>
          <a:noFill/>
          <a:ln w="19050">
            <a:solidFill>
              <a:srgbClr val="ECE2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2194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5C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v1.0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通用古文断句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80960" y="3154680"/>
            <a:ext cx="228600" cy="228600"/>
          </a:xfrm>
          <a:prstGeom prst="ellipse">
            <a:avLst/>
          </a:prstGeom>
          <a:solidFill>
            <a:srgbClr val="5C5C5C"/>
          </a:solidFill>
          <a:ln/>
        </p:spPr>
      </p:sp>
      <p:sp>
        <p:nvSpPr>
          <p:cNvPr id="14" name="Shape 12"/>
          <p:cNvSpPr/>
          <p:nvPr/>
        </p:nvSpPr>
        <p:spPr>
          <a:xfrm>
            <a:off x="7790688" y="3383280"/>
            <a:ext cx="0" cy="365760"/>
          </a:xfrm>
          <a:prstGeom prst="line">
            <a:avLst/>
          </a:prstGeom>
          <a:noFill/>
          <a:ln w="19050">
            <a:solidFill>
              <a:srgbClr val="ECE2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2971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5C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v2.0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0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+《本草纲目序》知识库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680960" y="3931920"/>
            <a:ext cx="228600" cy="228600"/>
          </a:xfrm>
          <a:prstGeom prst="ellipse">
            <a:avLst/>
          </a:prstGeom>
          <a:solidFill>
            <a:srgbClr val="B68A47"/>
          </a:solidFill>
          <a:ln/>
        </p:spPr>
      </p:sp>
      <p:sp>
        <p:nvSpPr>
          <p:cNvPr id="18" name="Shape 16"/>
          <p:cNvSpPr/>
          <p:nvPr/>
        </p:nvSpPr>
        <p:spPr>
          <a:xfrm>
            <a:off x="7790688" y="4160520"/>
            <a:ext cx="0" cy="365760"/>
          </a:xfrm>
          <a:prstGeom prst="line">
            <a:avLst/>
          </a:prstGeom>
          <a:noFill/>
          <a:ln w="19050">
            <a:solidFill>
              <a:srgbClr val="ECE2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0" y="3749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68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v3.0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4672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+ 错误归因(开放式)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680960" y="4709160"/>
            <a:ext cx="228600" cy="228600"/>
          </a:xfrm>
          <a:prstGeom prst="ellipse">
            <a:avLst/>
          </a:prstGeom>
          <a:solidFill>
            <a:srgbClr val="B68A47"/>
          </a:solidFill>
          <a:ln/>
        </p:spPr>
      </p:sp>
      <p:sp>
        <p:nvSpPr>
          <p:cNvPr id="22" name="Shape 20"/>
          <p:cNvSpPr/>
          <p:nvPr/>
        </p:nvSpPr>
        <p:spPr>
          <a:xfrm>
            <a:off x="7790688" y="4937760"/>
            <a:ext cx="0" cy="365760"/>
          </a:xfrm>
          <a:prstGeom prst="line">
            <a:avLst/>
          </a:prstGeom>
          <a:noFill/>
          <a:ln w="19050">
            <a:solidFill>
              <a:srgbClr val="ECE2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0" y="4526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68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v4.0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46720" y="4800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+ 四类归因严格约束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680960" y="5486400"/>
            <a:ext cx="228600" cy="2286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0" y="5303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v5.0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046720" y="5577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+ 中医"辨证"修辞风格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68A47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提示词全部档案见配套资源 /prompts/ 目录,可"复现"。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六、课堂实录:一节《本草纲目序》是如何上的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68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Classroom: Pre-class · In-class · After-class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1188720" cy="11887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ECDD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课前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68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Pre-class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94560" y="1874520"/>
            <a:ext cx="9448495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2D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77440" y="2011680"/>
            <a:ext cx="90827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学生预习标注 · 教师调出班级生词云,重构讲评顺序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520440"/>
            <a:ext cx="1188720" cy="11887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6118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ECDD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课中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31520" y="4160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68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In-class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94560" y="3520440"/>
            <a:ext cx="9448495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2D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377440" y="3657600"/>
            <a:ext cx="90827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断句练习,大屏即时反馈 83 人(60.1%)误断「弇山園」,教师切换知识图谱讲王世贞李时珍交往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5166360"/>
            <a:ext cx="1188720" cy="11887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52578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ECDD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课后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31520" y="5806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68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After-class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194560" y="5166360"/>
            <a:ext cx="9448495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2D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377440" y="5303520"/>
            <a:ext cx="90827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系统为每位学生生成"诊断处方",二维码链接助记卡片复习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263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D2E46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「弇山園」误断率 60.1%   →  现场转向人物典故故事化讲解,沉浸感大幅提升。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七、应用成效:数据说话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68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Results — 138 Students · 1 Semester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35128" y="1691640"/>
            <a:ext cx="36576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CE2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35128" y="20574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+31.3</a:t>
            </a:r>
            <a:pPr algn="ctr" indent="0" marL="0">
              <a:buNone/>
            </a:pPr>
            <a:r>
              <a:rPr lang="en-US" sz="2200" b="1" dirty="0">
                <a:solidFill>
                  <a:srgbClr val="B68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pp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335128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断句正确率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35128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5C5C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51.3% → 82.6%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67048" y="1691640"/>
            <a:ext cx="36576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CE2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67048" y="20574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+192</a:t>
            </a:r>
            <a:pPr algn="ctr" indent="0" marL="0">
              <a:buNone/>
            </a:pPr>
            <a:r>
              <a:rPr lang="en-US" sz="2200" b="1" dirty="0">
                <a:solidFill>
                  <a:srgbClr val="B68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%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4267048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课堂主动发言人次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67048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5C5C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6.4 → 18.7 / 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98968" y="1691640"/>
            <a:ext cx="36576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CE2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98968" y="20574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−73</a:t>
            </a:r>
            <a:pPr algn="ctr" indent="0" marL="0">
              <a:buNone/>
            </a:pPr>
            <a:r>
              <a:rPr lang="en-US" sz="2200" b="1" dirty="0">
                <a:solidFill>
                  <a:srgbClr val="B68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%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8198968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教师备改时长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98968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5C5C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4.5h → 1.2h / 班</a:t>
            </a:r>
            <a:endParaRPr lang="en-US" sz="13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731520" y="4160520"/>
          <a:ext cx="10728655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D2E46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学生满意度 4.71/5.00  ·  96.4% 愿推荐学弟学妹  ·  4 所兄弟院校申请试用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八、创新四维 + 落地影响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68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Dimensions &amp; Real-world Impact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5168" y="1691640"/>
            <a:ext cx="530352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2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5168" y="1691640"/>
            <a:ext cx="73152" cy="2103120"/>
          </a:xfrm>
          <a:prstGeom prst="rect">
            <a:avLst/>
          </a:prstGeom>
          <a:solidFill>
            <a:srgbClr val="6D2E4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488" y="19659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06728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学科融合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135728" y="1874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i="1" dirty="0">
                <a:solidFill>
                  <a:srgbClr val="B68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29488" y="27432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中医「辨证论治」思维转化为可执行提示词约束(四类归因),区别于通用古文工具。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33008" y="1691640"/>
            <a:ext cx="530352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2D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33008" y="1691640"/>
            <a:ext cx="73152" cy="2103120"/>
          </a:xfrm>
          <a:prstGeom prst="rect">
            <a:avLst/>
          </a:prstGeom>
          <a:solidFill>
            <a:srgbClr val="6D2E4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328" y="196596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84568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交互模式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10713568" y="1874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i="1" dirty="0">
                <a:solidFill>
                  <a:srgbClr val="B68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507328" y="27432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学生标注与断句行为反向训练智能体提示词与知识库,真正落实「学用结合」师生共创。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55168" y="3977640"/>
            <a:ext cx="530352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2D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55168" y="3977640"/>
            <a:ext cx="73152" cy="2103120"/>
          </a:xfrm>
          <a:prstGeom prst="rect">
            <a:avLst/>
          </a:prstGeom>
          <a:solidFill>
            <a:srgbClr val="6D2E4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488" y="425196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06728" y="4251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场景挖掘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5135728" y="4160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i="1" dirty="0">
                <a:solidFill>
                  <a:srgbClr val="B68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929488" y="50292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「序文即课程」——以《本草纲目序》一篇串联生平、典故、医史、训诂四维知识图谱。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233008" y="3977640"/>
            <a:ext cx="530352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2D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233008" y="3977640"/>
            <a:ext cx="73152" cy="2103120"/>
          </a:xfrm>
          <a:prstGeom prst="rect">
            <a:avLst/>
          </a:prstGeom>
          <a:solidFill>
            <a:srgbClr val="6D2E4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328" y="4251960"/>
            <a:ext cx="640080" cy="6400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84568" y="4251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成本控制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10713568" y="4160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i="1" dirty="0">
                <a:solidFill>
                  <a:srgbClr val="B68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6507328" y="50292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全栈国产开源,API 一学期不足 50 元,Docker 一键部署,4 所兄弟院校已申请试用。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48640" y="6263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D2E46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已开源至 Gitee · 计划接入国家智慧教育公共服务平台 · 惠及全国中医药院校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68A4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F4ECDD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「茲集也,藏之深山石室無當,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F4ECDD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盍鍥之以共天下後世味《太玄》如子雲者。」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68A47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——王世贞《本草纲目序》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3657600"/>
            <a:ext cx="1371600" cy="0"/>
          </a:xfrm>
          <a:prstGeom prst="line">
            <a:avLst/>
          </a:prstGeom>
          <a:noFill/>
          <a:ln w="19050">
            <a:solidFill>
              <a:srgbClr val="B68A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9319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CE2D0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愿此案例亦如《本草纲目》之传——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44348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CE2D0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藏诸开源,共飨同道。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48640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1200" kern="0" dirty="0">
                <a:solidFill>
                  <a:srgbClr val="F4ECDD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敬请指正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914400" y="608076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孙婉  龚方琴  莫亮波   ·   湖北中医药大学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640080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68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Gitee: gitee.com/hbtcm-yiguwen/bencao-reading-system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教学师生共创的医古文智慧精读全流程可视化系统</dc:title>
  <dc:subject>PptxGenJS Presentation</dc:subject>
  <dc:creator>孙婉团队</dc:creator>
  <cp:lastModifiedBy>孙婉团队</cp:lastModifiedBy>
  <cp:revision>1</cp:revision>
  <dcterms:created xsi:type="dcterms:W3CDTF">2026-05-03T02:30:48Z</dcterms:created>
  <dcterms:modified xsi:type="dcterms:W3CDTF">2026-05-03T02:30:48Z</dcterms:modified>
</cp:coreProperties>
</file>